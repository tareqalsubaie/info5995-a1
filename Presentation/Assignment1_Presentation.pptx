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3" r:id="rId6"/>
  </p:sldIdLst>
  <p:sldSz cx="9144000" cy="5143500" type="screen16x9"/>
  <p:notesSz cx="6858000" cy="9144000"/>
  <p:defaultTextStyle>
    <a:lvl1pPr marL="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87621" autoAdjust="0"/>
  </p:normalViewPr>
  <p:slideViewPr>
    <p:cSldViewPr>
      <p:cViewPr varScale="1">
        <p:scale>
          <a:sx n="134" d="100"/>
          <a:sy n="134" d="100"/>
        </p:scale>
        <p:origin x="104" y="2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CN" sz="1200"/>
            </a:lvl1pPr>
            <a:extLst/>
          </a:lstStyle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CN" sz="1200"/>
            </a:lvl1pPr>
            <a:extLst/>
          </a:lstStyle>
          <a:p>
            <a:fld id="{A8ADFD5B-A66C-449C-B6E8-FB716D07777D}" type="datetimeFigureOut">
              <a:pPr/>
              <a:t>2026/3/22</a:t>
            </a:fld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CN" sz="1200"/>
            </a:lvl1pPr>
            <a:extLst/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CN" sz="1200"/>
            </a:lvl1pPr>
            <a:extLst/>
          </a:lstStyle>
          <a:p>
            <a:fld id="{CA5D3BF3-D352-46FC-8343-31F56E6730EA}" type="slidenum">
              <a:p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zh-CN" smtClean="0"/>
              <a:pPr/>
              <a:t>1</a:t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zh-CN" smtClean="0"/>
              <a:pPr/>
              <a:t>2</a:t>
            </a:fld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zh-CN" smtClean="0"/>
              <a:pPr/>
              <a:t>3</a:t>
            </a:fld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zh-CN" smtClean="0"/>
              <a:pPr/>
              <a:t>4</a:t>
            </a:fld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1CEDB-A758-9017-AA3D-F616511E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99CE98-01B5-029F-85ED-817D29CB3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B7E2E-045E-21F1-9DF3-D418A1948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E953C5-62BA-49CF-810E-D4932BE90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altLang="zh-CN" smtClean="0"/>
              <a:pPr/>
              <a:t>5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62566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latinLnBrk="0">
              <a:buNone/>
              <a:defRPr lang="zh-CN" sz="2800">
                <a:solidFill>
                  <a:srgbClr val="FFFFFF"/>
                </a:solidFill>
              </a:defRPr>
            </a:lvl1pPr>
            <a:lvl2pPr marL="457200" indent="0" algn="ctr" latinLnBrk="0">
              <a:buNone/>
            </a:lvl2pPr>
            <a:lvl3pPr marL="914400" indent="0" algn="ctr" latinLnBrk="0">
              <a:buNone/>
            </a:lvl3pPr>
            <a:lvl4pPr marL="1371600" indent="0" algn="ctr" latinLnBrk="0">
              <a:buNone/>
            </a:lvl4pPr>
            <a:lvl5pPr marL="1828800" indent="0" algn="ctr" latinLnBrk="0">
              <a:buNone/>
            </a:lvl5pPr>
            <a:lvl6pPr marL="2286000" indent="0" algn="ctr" latinLnBrk="0">
              <a:buNone/>
            </a:lvl6pPr>
            <a:lvl7pPr marL="2743200" indent="0" algn="ctr" latinLnBrk="0">
              <a:buNone/>
            </a:lvl7pPr>
            <a:lvl8pPr marL="3200400" indent="0" algn="ctr" latinLnBrk="0">
              <a:buNone/>
            </a:lvl8pPr>
            <a:lvl9pPr marL="3657600" indent="0" algn="ctr" latinLnBrk="0">
              <a:buNone/>
            </a:lvl9pPr>
            <a:extLst/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latinLnBrk="0">
              <a:defRPr lang="zh-CN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altLang="zh-CN">
                <a:solidFill>
                  <a:srgbClr val="FFFFFF"/>
                </a:solidFill>
              </a:rPr>
              <a:pPr algn="ctr"/>
              <a:t>2026/3/22</a:t>
            </a:fld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latinLnBrk="0">
              <a:defRPr lang="zh-CN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zh-CN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zh-CN">
                <a:solidFill>
                  <a:schemeClr val="tx2"/>
                </a:solidFill>
              </a:rPr>
              <a:pPr/>
              <a:t>‹#›</a:t>
            </a:fld>
            <a:endParaRPr lang="zh-CN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latinLnBrk="0">
              <a:defRPr lang="zh-CN" cap="all" baseline="0"/>
            </a:lvl1pPr>
            <a:extLst/>
          </a:lstStyle>
          <a:p>
            <a:r>
              <a:rPr lang="zh-CN"/>
              <a:t>单击此处编辑母版标题样式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2026/3/22</a:t>
            </a:fld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  <a:pPr algn="ctr"/>
              <a:t>‹#›</a:t>
            </a:fld>
            <a:endParaRPr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latinLnBrk="0">
              <a:buNone/>
              <a:defRPr lang="zh-CN" sz="2800">
                <a:solidFill>
                  <a:schemeClr val="tx2"/>
                </a:solidFill>
              </a:defRPr>
            </a:lvl1pPr>
            <a:lvl2pPr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latinLnBrk="0">
              <a:buNone/>
              <a:defRPr lang="zh-CN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2026/3/22</a:t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latinLnBrk="0">
              <a:defRPr lang="zh-CN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zh-CN" sz="2400" b="1">
                <a:solidFill>
                  <a:srgbClr val="FFFFFF"/>
                </a:solidFill>
              </a:rPr>
              <a:pPr algn="ctr"/>
              <a:t>‹#›</a:t>
            </a:fld>
            <a:endParaRPr lang="zh-CN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2026/3/22</a:t>
            </a:fld>
            <a:endParaRPr 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  <a:pPr algn="ctr"/>
              <a:t>‹#›</a:t>
            </a:fld>
            <a:endParaRPr 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latinLnBrk="0">
              <a:defRPr lang="zh-CN"/>
            </a:lvl1pPr>
            <a:extLst/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2026/3/22</a:t>
            </a:fld>
            <a:endParaRPr 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  <a:pPr algn="ctr"/>
              <a:t>‹#›</a:t>
            </a:fld>
            <a:endParaRPr 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2026/3/22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  <a:pPr/>
              <a:t>‹#›</a:t>
            </a:fld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2026/3/22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zh-CN">
                <a:solidFill>
                  <a:schemeClr val="tx2"/>
                </a:solidFill>
              </a:rPr>
              <a:pPr/>
              <a:t>‹#›</a:t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latinLnBrk="0">
              <a:buNone/>
              <a:defRPr lang="zh-CN" sz="4200" b="0"/>
            </a:lvl1pPr>
            <a:extLst/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2026/3/22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  <a:pPr/>
              <a:t>‹#›</a:t>
            </a:fld>
            <a:endParaRPr lang="zh-CN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0">
              <a:spcAft>
                <a:spcPts val="1000"/>
              </a:spcAft>
              <a:buNone/>
              <a:defRPr lang="zh-CN" sz="1800"/>
            </a:lvl1pPr>
            <a:lvl2pPr latinLnBrk="0">
              <a:buNone/>
              <a:defRPr lang="zh-CN" sz="1200"/>
            </a:lvl2pPr>
            <a:lvl3pPr latinLnBrk="0">
              <a:buNone/>
              <a:defRPr lang="zh-CN" sz="1000"/>
            </a:lvl3pPr>
            <a:lvl4pPr latinLnBrk="0">
              <a:buNone/>
              <a:defRPr lang="zh-CN" sz="900"/>
            </a:lvl4pPr>
            <a:lvl5pPr latinLnBrk="0">
              <a:buNone/>
              <a:defRPr lang="zh-CN" sz="900"/>
            </a:lvl5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latinLnBrk="0">
              <a:buNone/>
              <a:defRPr lang="zh-CN" sz="3200"/>
            </a:lvl1pPr>
            <a:extLst/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latinLnBrk="0">
              <a:buFontTx/>
              <a:buNone/>
              <a:defRPr lang="zh-CN" sz="1700"/>
            </a:lvl1pPr>
            <a:lvl2pPr latinLnBrk="0">
              <a:buFontTx/>
              <a:buNone/>
              <a:defRPr lang="zh-CN" sz="1200"/>
            </a:lvl2pPr>
            <a:lvl3pPr latinLnBrk="0">
              <a:buFontTx/>
              <a:buNone/>
              <a:defRPr lang="zh-CN" sz="1000"/>
            </a:lvl3pPr>
            <a:lvl4pPr latinLnBrk="0">
              <a:buFontTx/>
              <a:buNone/>
              <a:defRPr lang="zh-CN" sz="900"/>
            </a:lvl4pPr>
            <a:lvl5pPr latinLnBrk="0">
              <a:buFontTx/>
              <a:buNone/>
              <a:defRPr lang="zh-CN" sz="900"/>
            </a:lvl5pPr>
            <a:extLst/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latinLnBrk="0">
              <a:buNone/>
              <a:defRPr lang="zh-CN"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2026/3/22</a:t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latinLnBrk="0">
              <a:defRPr lang="zh-CN" sz="2800"/>
            </a:lvl1pPr>
            <a:extLst/>
          </a:lstStyle>
          <a:p>
            <a:pPr algn="ctr"/>
            <a:fld id="{8F82E0A0-C266-4798-8C8F-B9F91E9DA37E}" type="slidenum">
              <a:rPr lang="zh-CN" sz="2800" b="1">
                <a:solidFill>
                  <a:srgbClr val="FFFFFF"/>
                </a:solidFill>
              </a:rPr>
              <a:pPr algn="ctr"/>
              <a:t>‹#›</a:t>
            </a:fld>
            <a:endParaRPr lang="zh-CN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  <a:p>
            <a:pPr lvl="5"/>
            <a:endParaRPr lang="zh-CN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zh-CN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2026/3/22</a:t>
            </a:fld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zh-CN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zh-CN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  <a:pPr algn="ctr"/>
              <a:t>‹#›</a:t>
            </a:fld>
            <a:endParaRPr lang="zh-CN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lang="zh-CN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/>
        <a:buChar char=""/>
        <a:defRPr lang="zh-CN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zh-CN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/>
        <a:buChar char=""/>
        <a:defRPr lang="zh-CN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/>
        <a:buNone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85800" y="1600201"/>
            <a:ext cx="7772400" cy="914400"/>
          </a:xfrm>
        </p:spPr>
        <p:txBody>
          <a:bodyPr anchor="ctr"/>
          <a:lstStyle/>
          <a:p>
            <a:pPr algn="ctr"/>
            <a:r>
              <a:rPr lang="en-US" sz="3000" b="1" dirty="0"/>
              <a:t>Cryptographic Vulnerability Discovery in a1_case1.apk</a:t>
            </a:r>
            <a:endParaRPr lang="en-US" sz="3000" dirty="0"/>
          </a:p>
        </p:txBody>
      </p:sp>
      <p:sp>
        <p:nvSpPr>
          <p:cNvPr id="3" name="Subtitle 2"/>
          <p:cNvSpPr txBox="1"/>
          <p:nvPr/>
        </p:nvSpPr>
        <p:spPr>
          <a:xfrm>
            <a:off x="914400" y="2057401"/>
            <a:ext cx="7315200" cy="971550"/>
          </a:xfrm>
        </p:spPr>
        <p:txBody>
          <a:bodyPr lIns="45720" tIns="45720" rIns="45720" bIns="45720" anchor="t"/>
          <a:lstStyle/>
          <a:p>
            <a:pPr algn="ctr"/>
            <a:endParaRPr 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772BE6-7023-E0BE-4BB2-5344D4A8AFEA}"/>
              </a:ext>
            </a:extLst>
          </p:cNvPr>
          <p:cNvSpPr txBox="1"/>
          <p:nvPr/>
        </p:nvSpPr>
        <p:spPr>
          <a:xfrm>
            <a:off x="228600" y="3181350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zh-CN" b="1" dirty="0"/>
              <a:t>Tutorial 28 Group 5</a:t>
            </a:r>
          </a:p>
          <a:p>
            <a:pPr algn="ctr"/>
            <a:r>
              <a:rPr lang="en-US" altLang="zh-CN" dirty="0"/>
              <a:t>Tareq </a:t>
            </a:r>
            <a:r>
              <a:rPr lang="en-US" altLang="zh-CN" dirty="0" err="1"/>
              <a:t>Alsubaie</a:t>
            </a:r>
            <a:r>
              <a:rPr lang="en-US" altLang="zh-CN" dirty="0"/>
              <a:t>, Bharathwaj Murali, Peisen Zheng, Nishanth Shanmugasundaram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6DD303-92F6-09DF-4134-12022A7B1276}"/>
              </a:ext>
            </a:extLst>
          </p:cNvPr>
          <p:cNvSpPr txBox="1"/>
          <p:nvPr/>
        </p:nvSpPr>
        <p:spPr>
          <a:xfrm>
            <a:off x="1333500" y="669488"/>
            <a:ext cx="647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INFO5995 Assignment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09600" y="304800"/>
            <a:ext cx="7924800" cy="762000"/>
          </a:xfrm>
        </p:spPr>
        <p:txBody>
          <a:bodyPr anchor="ctr"/>
          <a:lstStyle/>
          <a:p>
            <a:pPr algn="l"/>
            <a:r>
              <a:rPr lang="en-US" sz="2600" b="1"/>
              <a:t>App Overview and System Model</a:t>
            </a:r>
            <a:endParaRPr lang="en-US" sz="2600"/>
          </a:p>
        </p:txBody>
      </p:sp>
      <p:sp>
        <p:nvSpPr>
          <p:cNvPr id="3" name="Content 2"/>
          <p:cNvSpPr txBox="1"/>
          <p:nvPr/>
        </p:nvSpPr>
        <p:spPr>
          <a:xfrm>
            <a:off x="685800" y="1504950"/>
            <a:ext cx="7772400" cy="3200400"/>
          </a:xfrm>
        </p:spPr>
        <p:txBody>
          <a:bodyPr lIns="45720" tIns="45720" rIns="45720" bIns="45720" anchor="t"/>
          <a:lstStyle/>
          <a:p>
            <a:pPr algn="l"/>
            <a:r>
              <a:rPr lang="en-US" sz="1800" dirty="0"/>
              <a:t>- </a:t>
            </a:r>
            <a:r>
              <a:rPr lang="en-US" sz="1800" dirty="0" err="1"/>
              <a:t>MainActivity</a:t>
            </a:r>
            <a:r>
              <a:rPr lang="en-US" sz="1800" dirty="0"/>
              <a:t>: user registers with username and password</a:t>
            </a:r>
          </a:p>
          <a:p>
            <a:pPr algn="l"/>
            <a:r>
              <a:rPr lang="en-US" sz="1800" dirty="0"/>
              <a:t>- Login: verifies stored credentials and generates a session token</a:t>
            </a:r>
          </a:p>
          <a:p>
            <a:pPr algn="l"/>
            <a:r>
              <a:rPr lang="en-US" sz="1800" dirty="0"/>
              <a:t>- Profile: authenticated area; logout removes token</a:t>
            </a:r>
          </a:p>
          <a:p>
            <a:pPr algn="l"/>
            <a:r>
              <a:rPr lang="en-US" sz="1800" dirty="0"/>
              <a:t>- Local file storage stores credentials</a:t>
            </a:r>
          </a:p>
          <a:p>
            <a:pPr algn="l"/>
            <a:r>
              <a:rPr lang="en-US" sz="1800" dirty="0"/>
              <a:t>- </a:t>
            </a:r>
            <a:r>
              <a:rPr lang="en-US" sz="1800" dirty="0" err="1"/>
              <a:t>SharedPreferences</a:t>
            </a:r>
            <a:r>
              <a:rPr lang="en-US" sz="1800" dirty="0"/>
              <a:t> stores </a:t>
            </a:r>
            <a:r>
              <a:rPr lang="en-US" sz="1800" dirty="0" err="1"/>
              <a:t>sessionToken</a:t>
            </a:r>
            <a:endParaRPr lang="en-US" sz="1800" dirty="0"/>
          </a:p>
          <a:p>
            <a:pPr algn="l"/>
            <a:r>
              <a:rPr lang="en-US" sz="1800" dirty="0"/>
              <a:t>- Protected assets: credentials, session token, and authentication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09600" y="304800"/>
            <a:ext cx="7924800" cy="762000"/>
          </a:xfrm>
        </p:spPr>
        <p:txBody>
          <a:bodyPr anchor="ctr"/>
          <a:lstStyle/>
          <a:p>
            <a:pPr algn="l"/>
            <a:r>
              <a:rPr lang="en-US" sz="2600" b="1"/>
              <a:t>Threat Model and Discovery Method</a:t>
            </a:r>
            <a:endParaRPr lang="en-US" sz="2600"/>
          </a:p>
        </p:txBody>
      </p:sp>
      <p:sp>
        <p:nvSpPr>
          <p:cNvPr id="3" name="Content 2"/>
          <p:cNvSpPr txBox="1"/>
          <p:nvPr/>
        </p:nvSpPr>
        <p:spPr>
          <a:xfrm>
            <a:off x="685800" y="1504950"/>
            <a:ext cx="7772400" cy="3200400"/>
          </a:xfrm>
        </p:spPr>
        <p:txBody>
          <a:bodyPr lIns="45720" tIns="45720" rIns="45720" bIns="45720" anchor="t"/>
          <a:lstStyle/>
          <a:p>
            <a:pPr algn="l"/>
            <a:r>
              <a:rPr lang="en-US" sz="1800" dirty="0"/>
              <a:t>- Realistic attacker: rooted-device user, malware, or forensic examiner</a:t>
            </a:r>
          </a:p>
          <a:p>
            <a:pPr algn="l"/>
            <a:r>
              <a:rPr lang="en-US" sz="1800" dirty="0"/>
              <a:t>- Capabilities: decompile APK, inspect code, observe login behavior</a:t>
            </a:r>
          </a:p>
          <a:p>
            <a:pPr algn="l"/>
            <a:r>
              <a:rPr lang="en-US" sz="1800" dirty="0"/>
              <a:t>- Capabilities: read or modify local app storage</a:t>
            </a:r>
          </a:p>
          <a:p>
            <a:pPr algn="l"/>
            <a:r>
              <a:rPr lang="en-US" sz="1800" dirty="0"/>
              <a:t>- Decompiled the APK and reviewed manifest and authentication classes</a:t>
            </a:r>
          </a:p>
          <a:p>
            <a:pPr algn="l"/>
            <a:r>
              <a:rPr lang="en-US" sz="1800" dirty="0"/>
              <a:t>- Searched for random, token, and session-related values</a:t>
            </a:r>
          </a:p>
          <a:p>
            <a:pPr algn="l"/>
            <a:r>
              <a:rPr lang="en-US" sz="1800" dirty="0"/>
              <a:t>- Located </a:t>
            </a:r>
            <a:r>
              <a:rPr lang="en-US" sz="1800" dirty="0" err="1"/>
              <a:t>generateSessionToken</a:t>
            </a:r>
            <a:r>
              <a:rPr lang="en-US" sz="1800" dirty="0"/>
              <a:t>() in the Login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09600" y="304800"/>
            <a:ext cx="7924800" cy="762000"/>
          </a:xfrm>
        </p:spPr>
        <p:txBody>
          <a:bodyPr anchor="ctr"/>
          <a:lstStyle/>
          <a:p>
            <a:pPr algn="l"/>
            <a:r>
              <a:rPr lang="en-US" sz="2600" b="1" dirty="0"/>
              <a:t>Vulnerability and Attack Scenario</a:t>
            </a:r>
            <a:endParaRPr lang="en-US" sz="2600" dirty="0"/>
          </a:p>
        </p:txBody>
      </p:sp>
      <p:sp>
        <p:nvSpPr>
          <p:cNvPr id="3" name="Content 2"/>
          <p:cNvSpPr txBox="1"/>
          <p:nvPr/>
        </p:nvSpPr>
        <p:spPr>
          <a:xfrm>
            <a:off x="685800" y="1504950"/>
            <a:ext cx="7772400" cy="3200400"/>
          </a:xfrm>
        </p:spPr>
        <p:txBody>
          <a:bodyPr lIns="45720" tIns="45720" rIns="45720" bIns="45720" anchor="t"/>
          <a:lstStyle/>
          <a:p>
            <a:pPr algn="l"/>
            <a:r>
              <a:rPr lang="en-US" sz="1800" dirty="0"/>
              <a:t>- Session token is generated in </a:t>
            </a:r>
            <a:r>
              <a:rPr lang="en-US" sz="1800" dirty="0" err="1"/>
              <a:t>Login.generateSessionToken</a:t>
            </a:r>
            <a:r>
              <a:rPr lang="en-US" sz="1800" dirty="0"/>
              <a:t>()</a:t>
            </a:r>
          </a:p>
          <a:p>
            <a:pPr algn="l"/>
            <a:r>
              <a:rPr lang="en-US" sz="1800" dirty="0"/>
              <a:t>- The token is 16 characters long and uses </a:t>
            </a:r>
            <a:r>
              <a:rPr lang="en-US" sz="1800" dirty="0" err="1"/>
              <a:t>java.util.Random</a:t>
            </a:r>
            <a:endParaRPr lang="en-US" sz="1800" dirty="0"/>
          </a:p>
          <a:p>
            <a:pPr algn="l"/>
            <a:r>
              <a:rPr lang="en-US" sz="1800" dirty="0"/>
              <a:t>- Problem: </a:t>
            </a:r>
            <a:r>
              <a:rPr lang="en-US" sz="1800" dirty="0" err="1"/>
              <a:t>java.util.Random</a:t>
            </a:r>
            <a:r>
              <a:rPr lang="en-US" sz="1800" dirty="0"/>
              <a:t> is not cryptographically secure</a:t>
            </a:r>
          </a:p>
          <a:p>
            <a:pPr algn="l"/>
            <a:r>
              <a:rPr lang="en-US" sz="1800" dirty="0"/>
              <a:t>- Session tokens represent authenticated state and must be unpredictable</a:t>
            </a:r>
          </a:p>
          <a:p>
            <a:pPr algn="l"/>
            <a:r>
              <a:rPr lang="en-US" sz="1800" dirty="0"/>
              <a:t>- Attack: learn token logic, access local storage, predict or replace token</a:t>
            </a:r>
          </a:p>
          <a:p>
            <a:pPr algn="l"/>
            <a:r>
              <a:rPr lang="en-US" sz="1800" dirty="0"/>
              <a:t>- Result: unauthorized authenticated access to the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BC0F-408E-61A1-8FC5-0A11E3EA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67BF-9995-666D-3D40-AE68702702A4}"/>
              </a:ext>
            </a:extLst>
          </p:cNvPr>
          <p:cNvSpPr txBox="1"/>
          <p:nvPr/>
        </p:nvSpPr>
        <p:spPr>
          <a:xfrm>
            <a:off x="609600" y="304800"/>
            <a:ext cx="7924800" cy="762000"/>
          </a:xfrm>
        </p:spPr>
        <p:txBody>
          <a:bodyPr anchor="ctr"/>
          <a:lstStyle/>
          <a:p>
            <a:r>
              <a:rPr lang="en-US" altLang="zh-CN" sz="2800" b="1" dirty="0"/>
              <a:t>Fix and Key Takeaway</a:t>
            </a:r>
            <a:endParaRPr lang="en-US" altLang="zh-CN" sz="2800" dirty="0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A6CD68AE-FACD-AD95-4A17-2AF490349E1F}"/>
              </a:ext>
            </a:extLst>
          </p:cNvPr>
          <p:cNvSpPr txBox="1"/>
          <p:nvPr/>
        </p:nvSpPr>
        <p:spPr>
          <a:xfrm>
            <a:off x="685800" y="1504950"/>
            <a:ext cx="7772400" cy="3200400"/>
          </a:xfrm>
        </p:spPr>
        <p:txBody>
          <a:bodyPr lIns="45720" tIns="45720" rIns="45720" bIns="45720" anchor="t"/>
          <a:lstStyle/>
          <a:p>
            <a:r>
              <a:rPr lang="en-US" altLang="zh-CN" dirty="0"/>
              <a:t>- Replace </a:t>
            </a:r>
            <a:r>
              <a:rPr lang="en-US" altLang="zh-CN" dirty="0" err="1"/>
              <a:t>java.util.Random</a:t>
            </a:r>
            <a:r>
              <a:rPr lang="en-US" altLang="zh-CN" dirty="0"/>
              <a:t> with </a:t>
            </a:r>
            <a:r>
              <a:rPr lang="en-US" altLang="zh-CN" dirty="0" err="1"/>
              <a:t>SecureRandom</a:t>
            </a:r>
            <a:endParaRPr lang="en-US" altLang="zh-CN" dirty="0"/>
          </a:p>
          <a:p>
            <a:r>
              <a:rPr lang="en-US" altLang="zh-CN" dirty="0"/>
              <a:t>- Use a cryptographically strong generator for session tokens</a:t>
            </a:r>
          </a:p>
          <a:p>
            <a:r>
              <a:rPr lang="en-US" altLang="zh-CN" dirty="0"/>
              <a:t>- This reduces token predictability and forgery risk</a:t>
            </a:r>
          </a:p>
          <a:p>
            <a:r>
              <a:rPr lang="en-US" altLang="zh-CN" dirty="0"/>
              <a:t>- The token may look random, but the API must match the security role</a:t>
            </a:r>
          </a:p>
          <a:p>
            <a:r>
              <a:rPr lang="en-US" altLang="zh-CN" dirty="0"/>
              <a:t>- Key lesson: validate both what a value protects and how it is generated</a:t>
            </a:r>
          </a:p>
        </p:txBody>
      </p:sp>
    </p:spTree>
    <p:extLst>
      <p:ext uri="{BB962C8B-B14F-4D97-AF65-F5344CB8AC3E}">
        <p14:creationId xmlns:p14="http://schemas.microsoft.com/office/powerpoint/2010/main" val="1608552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288</Words>
  <Application>Microsoft Office PowerPoint</Application>
  <PresentationFormat>全屏显示(16:9)</PresentationFormat>
  <Paragraphs>36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Calibri</vt:lpstr>
      <vt:lpstr>Tw Cen MT</vt:lpstr>
      <vt:lpstr>Wingdings</vt:lpstr>
      <vt:lpstr>Wingdings 2</vt:lpstr>
      <vt:lpstr>WidescreenPresentation16x9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 Presentation</dc:title>
  <dc:creator>ForestZ</dc:creator>
  <cp:lastModifiedBy>沛森 郑</cp:lastModifiedBy>
  <cp:revision>2</cp:revision>
  <dcterms:created xsi:type="dcterms:W3CDTF">2006-07-12T22:21:48Z</dcterms:created>
  <dcterms:modified xsi:type="dcterms:W3CDTF">2026-03-22T00:56:50Z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2052</vt:i4>
  </property>
  <property fmtid="{D5CDD505-2E9C-101B-9397-08002B2CF9AE}" pid="3" name="_Version">
    <vt:lpwstr>12.0.4518</vt:lpwstr>
  </property>
</Properties>
</file>